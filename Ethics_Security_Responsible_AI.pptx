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6BEDC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9224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ETHICS, SECURITY &amp;</a:t>
            </a:r>
          </a:p>
          <a:p>
            <a:pPr>
              <a:spcAft>
                <a:spcPts val="600"/>
              </a:spcAft>
              <a:defRPr sz="3400" b="0">
                <a:solidFill>
                  <a:srgbClr val="FFFFFF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612648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D6E5F5"/>
                </a:solidFill>
                <a:latin typeface="Aptos"/>
              </a:defRPr>
            </a:pPr>
            <a:r>
              <a:t>Bias and fairness in LLMs and generative systems</a:t>
            </a:r>
          </a:p>
          <a:p>
            <a:pPr>
              <a:spcAft>
                <a:spcPts val="600"/>
              </a:spcAft>
              <a:defRPr sz="2000" b="0">
                <a:solidFill>
                  <a:srgbClr val="D6E5F5"/>
                </a:solidFill>
                <a:latin typeface="Aptos"/>
              </a:defRPr>
            </a:pPr>
            <a:r>
              <a:t>Explainability and transparency</a:t>
            </a:r>
          </a:p>
          <a:p>
            <a:pPr>
              <a:spcAft>
                <a:spcPts val="600"/>
              </a:spcAft>
              <a:defRPr sz="2000" b="0">
                <a:solidFill>
                  <a:srgbClr val="D6E5F5"/>
                </a:solidFill>
                <a:latin typeface="Aptos"/>
              </a:defRPr>
            </a:pPr>
            <a:r>
              <a:t>Copyright and originality</a:t>
            </a:r>
          </a:p>
        </p:txBody>
      </p:sp>
      <p:pic>
        <p:nvPicPr>
          <p:cNvPr id="5" name="Picture 4" descr="panel_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594360"/>
            <a:ext cx="406908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4069080"/>
            <a:ext cx="324612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069080"/>
            <a:ext cx="109728" cy="141732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15384"/>
            <a:ext cx="2880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99432"/>
            <a:ext cx="286207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Reduce unjustified differences in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069080"/>
            <a:ext cx="324612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4069080"/>
            <a:ext cx="109728" cy="141732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215384"/>
            <a:ext cx="2880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599432"/>
            <a:ext cx="286207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Make AI behavior and limitations understandable.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069080"/>
            <a:ext cx="324612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4069080"/>
            <a:ext cx="109728" cy="141732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215384"/>
            <a:ext cx="2880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ORIGINALITY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599432"/>
            <a:ext cx="286207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Respect rights, provenance, and human creativity.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72200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4C8DC"/>
                </a:solidFill>
                <a:latin typeface="Aptos"/>
              </a:defRPr>
            </a:pPr>
            <a:r>
              <a:t>Teaching presentation • B.Tech /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By the end of this session, students should be able to…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728" cy="150876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48463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01  Explain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482803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444"/>
                </a:solidFill>
                <a:latin typeface="Aptos"/>
              </a:defRPr>
            </a:pPr>
            <a:r>
              <a:t>Identify sources of bias and distinguish fairness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109728" cy="150876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92224"/>
            <a:ext cx="48463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02  Interpret AI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82803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444"/>
                </a:solidFill>
                <a:latin typeface="Aptos"/>
              </a:defRPr>
            </a:pPr>
            <a:r>
              <a:t>Describe explainability, transparency, and limitations.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21208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109728" cy="150876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58184"/>
            <a:ext cx="48463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03  Assess originality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42232"/>
            <a:ext cx="482803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444"/>
                </a:solidFill>
                <a:latin typeface="Aptos"/>
              </a:defRPr>
            </a:pPr>
            <a:r>
              <a:t>Discuss training data, generated content, and copyright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21208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11880"/>
            <a:ext cx="109728" cy="1508760"/>
          </a:xfrm>
          <a:prstGeom prst="rect">
            <a:avLst/>
          </a:prstGeom>
          <a:solidFill>
            <a:srgbClr val="EBAA37"/>
          </a:solidFill>
          <a:ln>
            <a:solidFill>
              <a:srgbClr val="EB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58184"/>
            <a:ext cx="48463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BAA37"/>
                </a:solidFill>
                <a:latin typeface="Aptos"/>
              </a:defRPr>
            </a:pPr>
            <a:r>
              <a:t>04  Apply safeguards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42232"/>
            <a:ext cx="482803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444"/>
                </a:solidFill>
                <a:latin typeface="Aptos"/>
              </a:defRPr>
            </a:pPr>
            <a:r>
              <a:t>Recommend practical checks and human oversight.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Why responsible AI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Generative systems can scale both benefits and harms.</a:t>
            </a:r>
          </a:p>
        </p:txBody>
      </p:sp>
      <p:pic>
        <p:nvPicPr>
          <p:cNvPr id="5" name="Picture 4" descr="panel_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384048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00600" y="1554480"/>
            <a:ext cx="297180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00600" y="1554480"/>
            <a:ext cx="109728" cy="1417320"/>
          </a:xfrm>
          <a:prstGeom prst="rect">
            <a:avLst/>
          </a:prstGeom>
          <a:solidFill>
            <a:srgbClr val="2B915F"/>
          </a:solidFill>
          <a:ln>
            <a:solidFill>
              <a:srgbClr val="2B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00784"/>
            <a:ext cx="2606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B915F"/>
                </a:solidFill>
                <a:latin typeface="Aptos"/>
              </a:defRPr>
            </a:pPr>
            <a:r>
              <a:t>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84831"/>
            <a:ext cx="258775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Speed, accessibility, creativity, and personalization.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109728" cy="1417320"/>
          </a:xfrm>
          <a:prstGeom prst="rect">
            <a:avLst/>
          </a:prstGeom>
          <a:solidFill>
            <a:srgbClr val="C64848"/>
          </a:solidFill>
          <a:ln>
            <a:solidFill>
              <a:srgbClr val="C6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00784"/>
            <a:ext cx="30175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64848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84831"/>
            <a:ext cx="299923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Bias, fabricated claims, privacy loss, and IP disputes.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3246120"/>
            <a:ext cx="6629400" cy="141732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3246120"/>
            <a:ext cx="109728" cy="141732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392424"/>
            <a:ext cx="62636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RESPONSIBLE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76472"/>
            <a:ext cx="624535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Evaluate data and outputs; explain limitations; respect rights; keep humans accountable.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2344"/>
                </a:solidFill>
                <a:latin typeface="Aptos"/>
              </a:defRPr>
            </a:pPr>
            <a:r>
              <a:t>Core idea: trust is earned through evidence, safeguards, and accountability—not through fluent output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1. Bias and fairness in LLMs and generative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Bias can enter through data, labels, objectives, evaluation, or deployment.</a:t>
            </a:r>
          </a:p>
        </p:txBody>
      </p:sp>
      <p:pic>
        <p:nvPicPr>
          <p:cNvPr id="5" name="Picture 4" descr="panel_0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508760"/>
            <a:ext cx="3840480" cy="2514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508760"/>
            <a:ext cx="333756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09728" cy="146304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5063"/>
            <a:ext cx="2971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95351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Systematic skew that can produce inaccurate or unfair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2004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109728" cy="146304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55063"/>
            <a:ext cx="28346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39112"/>
            <a:ext cx="281635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Treating people equitably, with attention to context and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6583680" cy="210312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Models learn patterns—including harmful stereotypes—from training data.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Outputs may differ by language, dialect, identity cues, or cultural context.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Fairness is application-specific; no single metric solves every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Common sources of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Use this checklist when designing or evaluating a generative AI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15544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728" cy="155448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55063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Historical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9067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Past inequalities reflected in source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474720" cy="15544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109728" cy="155448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55063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39112"/>
            <a:ext cx="309067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Some groups or languages are underrepresented.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474720" cy="15544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109728" cy="155448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55063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039112"/>
            <a:ext cx="309067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Stereotypes or narrow portrayals are repeated.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3474720" cy="15544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109728" cy="1554480"/>
          </a:xfrm>
          <a:prstGeom prst="rect">
            <a:avLst/>
          </a:prstGeom>
          <a:solidFill>
            <a:srgbClr val="EBAA37"/>
          </a:solidFill>
          <a:ln>
            <a:solidFill>
              <a:srgbClr val="EB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BAA37"/>
                </a:solidFill>
                <a:latin typeface="Aptos"/>
              </a:defRPr>
            </a:pPr>
            <a:r>
              <a:t>Labeling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05072"/>
            <a:ext cx="309067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Human annotations contain inconsistent judgments.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474720"/>
            <a:ext cx="3474720" cy="15544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474720"/>
            <a:ext cx="109728" cy="1554480"/>
          </a:xfrm>
          <a:prstGeom prst="rect">
            <a:avLst/>
          </a:prstGeom>
          <a:solidFill>
            <a:srgbClr val="C64848"/>
          </a:solidFill>
          <a:ln>
            <a:solidFill>
              <a:srgbClr val="C6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621024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64848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05072"/>
            <a:ext cx="309067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The target or proxy does not capture real-world needs.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74720"/>
            <a:ext cx="3474720" cy="15544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474720"/>
            <a:ext cx="109728" cy="1554480"/>
          </a:xfrm>
          <a:prstGeom prst="rect">
            <a:avLst/>
          </a:prstGeom>
          <a:solidFill>
            <a:srgbClr val="2B915F"/>
          </a:solidFill>
          <a:ln>
            <a:solidFill>
              <a:srgbClr val="2B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621024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B915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05072"/>
            <a:ext cx="309067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A tool is used outside the context it was designed for.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2344"/>
                </a:solidFill>
                <a:latin typeface="Aptos"/>
              </a:defRPr>
            </a:pPr>
            <a:r>
              <a:t>Example: a chatbot that performs well in English may misunderstand regional-language questions.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Case study: college admissions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A model gives complete answers in English but incomplete answers in Telugu.</a:t>
            </a:r>
          </a:p>
        </p:txBody>
      </p:sp>
      <p:pic>
        <p:nvPicPr>
          <p:cNvPr id="5" name="Picture 4" descr="panel_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554480"/>
            <a:ext cx="4069080" cy="2606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554480"/>
            <a:ext cx="3063240" cy="13258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109728" cy="1325880"/>
          </a:xfrm>
          <a:prstGeom prst="rect">
            <a:avLst/>
          </a:prstGeom>
          <a:solidFill>
            <a:srgbClr val="C64848"/>
          </a:solidFill>
          <a:ln>
            <a:solidFill>
              <a:srgbClr val="C6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69748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64848"/>
                </a:solidFill>
                <a:latin typeface="Aptos"/>
              </a:defRPr>
            </a:pPr>
            <a:r>
              <a:t>OBSERVED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2679192" cy="7040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Different answer quality across languages.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554480"/>
            <a:ext cx="3063240" cy="132588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554480"/>
            <a:ext cx="109728" cy="1325880"/>
          </a:xfrm>
          <a:prstGeom prst="rect">
            <a:avLst/>
          </a:prstGeom>
          <a:solidFill>
            <a:srgbClr val="EBAA37"/>
          </a:solidFill>
          <a:ln>
            <a:solidFill>
              <a:srgbClr val="EB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700784"/>
            <a:ext cx="269748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BAA37"/>
                </a:solidFill>
                <a:latin typeface="Aptos"/>
              </a:defRPr>
            </a:pPr>
            <a:r>
              <a:t>POSSIBLE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84831"/>
            <a:ext cx="2679192" cy="7040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Uneven training and evaluation coverage.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6400800" cy="219456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Create equivalent test questions in both languages.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Measure accuracy, completeness, refusal rates, and user success.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Improve coverage with reviewed data and native-speaker evaluation.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Retest after each model or prompt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Fairness metrics: useful, but not universal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Select measures based on the task, legal context, and potential harm.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109728" cy="150876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3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Demographic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309067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Compare positive decision rates across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7472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109728" cy="150876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55063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Equal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09067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Compare true-positive rates across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38328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109728" cy="150876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55063"/>
            <a:ext cx="30175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Equalized odds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299923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Compare true-positive and false-positive rates.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9000"/>
            <a:ext cx="10607040" cy="1325880"/>
          </a:xfrm>
          <a:prstGeom prst="roundRect">
            <a:avLst/>
          </a:prstGeom>
          <a:solidFill>
            <a:srgbClr val="FFF6E1"/>
          </a:solidFill>
          <a:ln>
            <a:solidFill>
              <a:srgbClr val="F0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11880"/>
            <a:ext cx="100584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83444"/>
                </a:solidFill>
                <a:latin typeface="Aptos"/>
              </a:defRPr>
            </a:pPr>
            <a:r>
              <a:t>Important: metrics can conflict. A model can satisfy one fairness criterion while failing another. Evaluate outcomes, context, and lived impact—not just a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F6C7D"/>
                </a:solidFill>
                <a:latin typeface="Aptos"/>
              </a:defRPr>
            </a:pPr>
            <a:r>
              <a:t>Practical controls: representative data • subgroup testing • independent review • user feedback •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Reducing bias: a lifecycle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Fairness must be checked before launch and throughout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103120" cy="19659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109728" cy="196596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0824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1.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1719072" cy="13441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Check coverage, consent, quality, and provenance.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5F6C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874519"/>
            <a:ext cx="2103120" cy="19659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79" y="1874519"/>
            <a:ext cx="109728" cy="196596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2020824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2.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2404872"/>
            <a:ext cx="1719072" cy="13441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Define intended use and unacceptable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5F6C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874519"/>
            <a:ext cx="2103120" cy="19659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1874519"/>
            <a:ext cx="109728" cy="196596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020824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3. 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04872"/>
            <a:ext cx="1719072" cy="13441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Test groups, languages, prompts, and edge cases.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5F6C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1874519"/>
            <a:ext cx="2103120" cy="19659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19" y="1874519"/>
            <a:ext cx="109728" cy="1965960"/>
          </a:xfrm>
          <a:prstGeom prst="rect">
            <a:avLst/>
          </a:prstGeom>
          <a:solidFill>
            <a:srgbClr val="EBAA37"/>
          </a:solidFill>
          <a:ln>
            <a:solidFill>
              <a:srgbClr val="EB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2020824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BAA37"/>
                </a:solidFill>
                <a:latin typeface="Aptos"/>
              </a:defRPr>
            </a:pPr>
            <a:r>
              <a:t>4.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404872"/>
            <a:ext cx="1719072" cy="13441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Include domain experts and affected users.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7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5F6C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874519"/>
            <a:ext cx="2103120" cy="19659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1874519"/>
            <a:ext cx="109728" cy="1965960"/>
          </a:xfrm>
          <a:prstGeom prst="rect">
            <a:avLst/>
          </a:prstGeom>
          <a:solidFill>
            <a:srgbClr val="2B915F"/>
          </a:solidFill>
          <a:ln>
            <a:solidFill>
              <a:srgbClr val="2B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020824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B915F"/>
                </a:solidFill>
                <a:latin typeface="Aptos"/>
              </a:defRPr>
            </a:pPr>
            <a:r>
              <a:t>5.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404872"/>
            <a:ext cx="1719072" cy="13441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Track complaints, drift, and unequal outcomes.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66344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64848"/>
                </a:solidFill>
                <a:latin typeface="Aptos"/>
              </a:defRPr>
            </a:pPr>
            <a:r>
              <a:t>Do not assume that removing demographic fields eliminates bias: other features may act as proxies.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2. Explainability and transparency in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Related concepts that answer different questions.</a:t>
            </a:r>
          </a:p>
        </p:txBody>
      </p:sp>
      <p:pic>
        <p:nvPicPr>
          <p:cNvPr id="5" name="Picture 4" descr="panel_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554480"/>
            <a:ext cx="3794760" cy="2514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310896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9728" cy="150876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92224"/>
            <a:ext cx="27432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272491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Why might the system have produced this output?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645920"/>
            <a:ext cx="3154680" cy="150876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645920"/>
            <a:ext cx="109728" cy="150876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2788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76272"/>
            <a:ext cx="2770632" cy="8869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What is the system, how is it used, and what are its limits?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6400800" cy="164592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Explain the evidence or factors relevant to a result.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Disclose AI involvement and meaningful limitations.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Distinguish verified facts, model-generated claims, and uncertainty.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Ways to improve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Choose techniques appropriate to the model and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11430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114300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4892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Feature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873752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3444"/>
                </a:solidFill>
                <a:latin typeface="Aptos"/>
              </a:defRPr>
            </a:pPr>
            <a:r>
              <a:t>Highlights input factors associated with a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109728" cy="114300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63624"/>
            <a:ext cx="4892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SHAP / LIME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47672"/>
            <a:ext cx="4873752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3444"/>
                </a:solidFill>
                <a:latin typeface="Aptos"/>
              </a:defRPr>
            </a:pPr>
            <a:r>
              <a:t>Can estimate feature contributions for supported model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5257800" cy="11430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109728" cy="114300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80944"/>
            <a:ext cx="4892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Retrieval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64992"/>
            <a:ext cx="4873752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3444"/>
                </a:solidFill>
                <a:latin typeface="Aptos"/>
              </a:defRPr>
            </a:pPr>
            <a:r>
              <a:t>Shows source documents used in a retrieval-augmented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34640"/>
            <a:ext cx="5257800" cy="11430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34640"/>
            <a:ext cx="109728" cy="1143000"/>
          </a:xfrm>
          <a:prstGeom prst="rect">
            <a:avLst/>
          </a:prstGeom>
          <a:solidFill>
            <a:srgbClr val="EBAA37"/>
          </a:solidFill>
          <a:ln>
            <a:solidFill>
              <a:srgbClr val="EB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80944"/>
            <a:ext cx="4892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BAA37"/>
                </a:solidFill>
                <a:latin typeface="Aptos"/>
              </a:defRPr>
            </a:pPr>
            <a:r>
              <a:t>Model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64992"/>
            <a:ext cx="4873752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3444"/>
                </a:solidFill>
                <a:latin typeface="Aptos"/>
              </a:defRPr>
            </a:pPr>
            <a:r>
              <a:t>Describes intended use, evaluation, limitations, and risks.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5257800" cy="11430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51960"/>
            <a:ext cx="109728" cy="1143000"/>
          </a:xfrm>
          <a:prstGeom prst="rect">
            <a:avLst/>
          </a:prstGeom>
          <a:solidFill>
            <a:srgbClr val="2B915F"/>
          </a:solidFill>
          <a:ln>
            <a:solidFill>
              <a:srgbClr val="2B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98264"/>
            <a:ext cx="4892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B915F"/>
                </a:solidFill>
                <a:latin typeface="Aptos"/>
              </a:defRPr>
            </a:pPr>
            <a:r>
              <a:t>Human-readable rationale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82312"/>
            <a:ext cx="4873752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3444"/>
                </a:solidFill>
                <a:latin typeface="Aptos"/>
              </a:defRPr>
            </a:pPr>
            <a:r>
              <a:t>Gives a concise explanation without claiming access to hidden reasoning.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5257800" cy="11430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51960"/>
            <a:ext cx="109728" cy="1143000"/>
          </a:xfrm>
          <a:prstGeom prst="rect">
            <a:avLst/>
          </a:prstGeom>
          <a:solidFill>
            <a:srgbClr val="C64848"/>
          </a:solidFill>
          <a:ln>
            <a:solidFill>
              <a:srgbClr val="C6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398264"/>
            <a:ext cx="48920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64848"/>
                </a:solidFill>
                <a:latin typeface="Aptos"/>
              </a:defRPr>
            </a:pPr>
            <a: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782312"/>
            <a:ext cx="4873752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3444"/>
                </a:solidFill>
                <a:latin typeface="Aptos"/>
              </a:defRPr>
            </a:pPr>
            <a:r>
              <a:t>Records versions, prompts, sources, and decisions where appropriate.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607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64848"/>
                </a:solidFill>
                <a:latin typeface="Aptos"/>
              </a:defRPr>
            </a:pPr>
            <a:r>
              <a:t>Caution: explanations can be incomplete or misleading; validate them against system behavior.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Transparency checklist for an AI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Users need enough information to make informed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6766560" cy="411480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Tell users when they are interacting with AI, where appropriate.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Explain intended purpose and prohibited uses.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Describe relevant data sources and data handling practices.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State limitations, uncertainty, and known failure modes.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Identify whether external sources or tools are used.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Provide reporting, correction, and human escalation paths.</a:t>
            </a:r>
          </a:p>
        </p:txBody>
      </p:sp>
      <p:pic>
        <p:nvPicPr>
          <p:cNvPr id="6" name="Picture 5" descr="panel_2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828800"/>
            <a:ext cx="35204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3. Copyright and originality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Generative output raises questions about inputs, outputs, attribution, and human contribution.</a:t>
            </a:r>
          </a:p>
        </p:txBody>
      </p:sp>
      <p:pic>
        <p:nvPicPr>
          <p:cNvPr id="5" name="Picture 4" descr="panel_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08760"/>
            <a:ext cx="388620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554480"/>
            <a:ext cx="3108960" cy="13716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109728" cy="137160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7432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COPYRIGHT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2724912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Legal protection for qualifying original expression, subject to applicable law.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554480"/>
            <a:ext cx="3108960" cy="13716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554480"/>
            <a:ext cx="109728" cy="137160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00784"/>
            <a:ext cx="27432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ORIGINALITY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084831"/>
            <a:ext cx="2724912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444"/>
                </a:solidFill>
                <a:latin typeface="Aptos"/>
              </a:defRPr>
            </a:pPr>
            <a:r>
              <a:t>Whether a work is sufficiently independent or creative under relevant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6400800" cy="201168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Training data may include protected works; permissions and legal rules vary.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Generated content may resemble existing works or protected characters.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•  Authorship and copyright eligibility can depend on jurisdiction and human contribution.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Where copyright and originality risks arise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Assess the entire workflow, not only the final prompt.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6636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09728" cy="146304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48006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478231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Was content lawfully collected and used? What licences or exceptions apply?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6636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109728" cy="146304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00784"/>
            <a:ext cx="48006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Generated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478231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Could it reproduce or closely imitate protected expression?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516636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383280"/>
            <a:ext cx="109728" cy="1463040"/>
          </a:xfrm>
          <a:prstGeom prst="rect">
            <a:avLst/>
          </a:prstGeom>
          <a:solidFill>
            <a:srgbClr val="EBAA37"/>
          </a:solidFill>
          <a:ln>
            <a:solidFill>
              <a:srgbClr val="EB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9584"/>
            <a:ext cx="48006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BAA37"/>
                </a:solidFill>
                <a:latin typeface="Aptos"/>
              </a:defRPr>
            </a:pPr>
            <a:r>
              <a:t>Style and likeness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478231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Does the request target a living artist's distinctive style or a real person's identity?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516636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383280"/>
            <a:ext cx="109728" cy="1463040"/>
          </a:xfrm>
          <a:prstGeom prst="rect">
            <a:avLst/>
          </a:prstGeom>
          <a:solidFill>
            <a:srgbClr val="1E9682"/>
          </a:solidFill>
          <a:ln>
            <a:solidFill>
              <a:srgbClr val="1E9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29584"/>
            <a:ext cx="48006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9682"/>
                </a:solidFill>
                <a:latin typeface="Aptos"/>
              </a:defRPr>
            </a:pPr>
            <a:r>
              <a:t>Human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13632"/>
            <a:ext cx="478231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What meaningful human selection, editing, or authorship occurred?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0607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64848"/>
                </a:solidFill>
                <a:latin typeface="Aptos"/>
              </a:defRPr>
            </a:pPr>
            <a:r>
              <a:t>A result that looks new is not automatically free of legal or ethical concerns.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Practical safeguards for copyright and originality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Use these checks before publishing or commercializing AI-generated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6766560" cy="438912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Use tools and datasets with clear terms and provenance.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Do not assume that publicly accessible content is copyright-free.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Review outputs for substantial similarity to known works.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Keep records of prompts, edits, sources, licences, and human decisions.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Provide attribution where required by law, licence, or institutional policy.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Seek legal advice for high-value or high-risk commercial uses.</a:t>
            </a:r>
          </a:p>
        </p:txBody>
      </p:sp>
      <p:pic>
        <p:nvPicPr>
          <p:cNvPr id="6" name="Picture 5" descr="panel_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783080"/>
            <a:ext cx="347472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2344"/>
                </a:solidFill>
                <a:latin typeface="Aptos"/>
              </a:defRPr>
            </a:pPr>
            <a:r>
              <a:t>Classroom activity: audit an AI-generated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D"/>
                </a:solidFill>
                <a:latin typeface="Aptos"/>
              </a:defRPr>
            </a:pPr>
            <a:r>
              <a:t>Small groups • 10 minutes • Use a fictional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13716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" cy="1371600"/>
          </a:xfrm>
          <a:prstGeom prst="rect">
            <a:avLst/>
          </a:prstGeom>
          <a:solidFill>
            <a:srgbClr val="2275BE"/>
          </a:solidFill>
          <a:ln>
            <a:solidFill>
              <a:srgbClr val="2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754879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275BE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736592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An AI assistant recommends candidates for a scholarship and drafts promotional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20640" cy="1371600"/>
          </a:xfrm>
          <a:prstGeom prst="roundRect">
            <a:avLst/>
          </a:prstGeom>
          <a:solidFill>
            <a:srgbClr val="F3F7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109728" cy="1371600"/>
          </a:xfrm>
          <a:prstGeom prst="rect">
            <a:avLst/>
          </a:prstGeom>
          <a:solidFill>
            <a:srgbClr val="705BB4"/>
          </a:solidFill>
          <a:ln>
            <a:solidFill>
              <a:srgbClr val="70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63624"/>
            <a:ext cx="4754879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05BB4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47672"/>
            <a:ext cx="4736592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444"/>
                </a:solidFill>
                <a:latin typeface="Aptos"/>
              </a:defRPr>
            </a:pPr>
            <a:r>
              <a:t>Identify at least one bias risk, one transparency gap, and one copyright concern.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9966960" cy="205740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What evidence would you request before trusting the recommendation?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What should be disclosed to users or reviewers?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What human checks and safeguards should be added?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•  How would you test whether the fixes work?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ETHICS • SECURITY • 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F6C7D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7315200" cy="4023360"/>
          </a:xfrm>
          <a:prstGeom prst="rect">
            <a:avLst/>
          </a:prstGeom>
          <a:noFill/>
        </p:spPr>
        <p:txBody>
          <a:bodyPr wrap="square" lIns="73152" rIns="54864" tIns="36576" b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Fairness requires representative data, subgroup evaluation, and ongoing monitoring.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Explainability helps people assess outcomes; transparency reveals system purpose and limits.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Copyright and originality depend on context, applicable law, licences, and human contribution.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Human oversight, documentation, and feedback are essential safeguards.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Responsible AI is a continuous process—not a one-time checklist.</a:t>
            </a:r>
          </a:p>
        </p:txBody>
      </p:sp>
      <p:pic>
        <p:nvPicPr>
          <p:cNvPr id="4" name="Picture 3" descr="panel_3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828800"/>
            <a:ext cx="292608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89788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46BEDC"/>
                </a:solidFill>
                <a:latin typeface="Aptos"/>
              </a:defRPr>
            </a:pPr>
            <a:r>
              <a:t>Build AI that is useful, fair, understandable, and respectful of people and rights.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4C8DC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Ethics, Security &amp; Responsible AI</dc:title>
  <dc:subject>Bias and fairness, explainability and transparency, copyright and originality</dc:subject>
  <dc:creator>OpenAI</dc:creator>
  <cp:keywords>Generative AI, Responsible AI, fairness, transparency, copyright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