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8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383280" cy="21031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Generative AI Ethics, Security &amp; 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0"/>
            <a:ext cx="3383280" cy="137160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96E6FF"/>
                </a:solidFill>
                <a:latin typeface="Aptos"/>
              </a:defRPr>
            </a:pPr>
            <a:r>
              <a:t>Adversarial Use • AI Safety • Regulation • Responsible Prompt Crafting • Moderation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0"/>
            <a:ext cx="3383280" cy="7315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Teaching presentation • B.Tech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6766560" cy="7315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069C8"/>
                </a:solidFill>
                <a:latin typeface="Aptos"/>
              </a:defRPr>
            </a:pPr>
            <a:r>
              <a:t>A safer, fairer AI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011680"/>
            <a:ext cx="6583680" cy="2560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324B"/>
                </a:solidFill>
                <a:latin typeface="Aptos"/>
              </a:defRPr>
            </a:pPr>
            <a:r>
              <a:t>• Building a safer, fairer, more trustworthy AI future.</a:t>
            </a:r>
          </a:p>
          <a:p>
            <a:pPr>
              <a:spcAft>
                <a:spcPts val="800"/>
              </a:spcAft>
              <a:defRPr sz="1900" b="0">
                <a:solidFill>
                  <a:srgbClr val="23324B"/>
                </a:solidFill>
                <a:latin typeface="Aptos"/>
              </a:defRPr>
            </a:pPr>
            <a:r>
              <a:t>• For B.Tech students: recognize misuse, apply safeguards, understand policy, and design responsible prompts.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5029200"/>
            <a:ext cx="1920240" cy="914400"/>
          </a:xfrm>
          <a:prstGeom prst="roundRect">
            <a:avLst/>
          </a:prstGeom>
          <a:solidFill>
            <a:srgbClr val="EBF7FF"/>
          </a:solidFill>
          <a:ln>
            <a:solidFill>
              <a:srgbClr val="14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5120640"/>
            <a:ext cx="170078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9164"/>
                </a:solidFill>
                <a:latin typeface="Aptos"/>
              </a:defRPr>
            </a:pPr>
            <a:r>
              <a:t>ETHICS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5596128"/>
            <a:ext cx="1700784" cy="2560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Respect people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5029200"/>
            <a:ext cx="1920240" cy="914400"/>
          </a:xfrm>
          <a:prstGeom prst="roundRect">
            <a:avLst/>
          </a:prstGeom>
          <a:solidFill>
            <a:srgbClr val="EBF7FF"/>
          </a:solidFill>
          <a:ln>
            <a:solidFill>
              <a:srgbClr val="006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8" y="5120640"/>
            <a:ext cx="170078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9C8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5596128"/>
            <a:ext cx="1700784" cy="2560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Reduce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5029200"/>
            <a:ext cx="2286000" cy="914400"/>
          </a:xfrm>
          <a:prstGeom prst="roundRect">
            <a:avLst/>
          </a:prstGeom>
          <a:solidFill>
            <a:srgbClr val="EBF7FF"/>
          </a:solidFill>
          <a:ln>
            <a:solidFill>
              <a:srgbClr val="6E4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5120640"/>
            <a:ext cx="2066543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6E4BC8"/>
                </a:solidFill>
                <a:latin typeface="Aptos"/>
              </a:defRPr>
            </a:pPr>
            <a:r>
              <a:t>RESPONSIBILITY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5596128"/>
            <a:ext cx="2066543" cy="2560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Human oversight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1. Adversarial Use of Generative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881360" cy="466344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Adversarial use means exploiting generative models to deceive, manipulate, impersonate, exploit, or harm people and organizations.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Common forms: deepfakes, misinformation, impersonation, fraud and scams, malicious content.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Generative AI can create realistic text, images, audio, video, and code—useful for innovation, but risky when misused.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2/16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SYNTHETIC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Deepfakes — How They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686050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006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246659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9C8"/>
                </a:solidFill>
                <a:latin typeface="Aptos"/>
              </a:defRPr>
            </a:pPr>
            <a:r>
              <a:t>Source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395728"/>
            <a:ext cx="2466594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Images, video, voice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6130" y="1828800"/>
            <a:ext cx="2686050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00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5858" y="1920240"/>
            <a:ext cx="246659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B4D2"/>
                </a:solidFill>
                <a:latin typeface="Aptos"/>
              </a:defRPr>
            </a:pPr>
            <a:r>
              <a:t>AI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5858" y="2395728"/>
            <a:ext cx="2466594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Learns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1828800"/>
            <a:ext cx="2686050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6E4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9068" y="1920240"/>
            <a:ext cx="246659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6E4BC8"/>
                </a:solidFill>
                <a:latin typeface="Aptos"/>
              </a:defRPr>
            </a:pPr>
            <a:r>
              <a:t>Manipulation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9068" y="2395728"/>
            <a:ext cx="2466594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Face, voice, lip-sync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2550" y="1828800"/>
            <a:ext cx="2686050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E68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2278" y="1920240"/>
            <a:ext cx="246659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68714"/>
                </a:solidFill>
                <a:latin typeface="Aptos"/>
              </a:defRPr>
            </a:pPr>
            <a:r>
              <a:t>Synthetic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2278" y="2395728"/>
            <a:ext cx="2466594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Generated 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10972800" cy="1645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1. Source media is collected: images, video, or voice samples.</a:t>
            </a:r>
          </a:p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2. An AI model learns patterns, for example using GAN-based or diffusion-based methods.</a:t>
            </a:r>
          </a:p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3. Manipulation may swap a face, clone a voice, or synchronize lip movements.</a:t>
            </a:r>
          </a:p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4. The system produces synthetic media that can look or sound authentic.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3/16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SYNTHETIC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Deepfake Examples: Risks &amp;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686050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006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246659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9C8"/>
                </a:solidFill>
                <a:latin typeface="Aptos"/>
              </a:defRPr>
            </a:pPr>
            <a:r>
              <a:t>Face swap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395728"/>
            <a:ext cx="2466594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A person appears to say/do something they did 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6130" y="1828800"/>
            <a:ext cx="2686050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00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5858" y="1920240"/>
            <a:ext cx="246659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B4D2"/>
                </a:solidFill>
                <a:latin typeface="Aptos"/>
              </a:defRPr>
            </a:pPr>
            <a:r>
              <a:t>Voice 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5858" y="2395728"/>
            <a:ext cx="2466594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A voice imitates a real person.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1828800"/>
            <a:ext cx="2686050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6E4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9068" y="1920240"/>
            <a:ext cx="246659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6E4BC8"/>
                </a:solidFill>
                <a:latin typeface="Aptos"/>
              </a:defRPr>
            </a:pPr>
            <a:r>
              <a:t>Fake article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9068" y="2395728"/>
            <a:ext cx="2466594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Synthetic media supports a false 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2550" y="1828800"/>
            <a:ext cx="2686050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E68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2278" y="1920240"/>
            <a:ext cx="246659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68714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2278" y="2395728"/>
            <a:ext cx="2466594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Check source and trusted channels.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10972800" cy="1645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Examples: face-swap video, voice cloning, fabricated interviews, and fake-news imagery.</a:t>
            </a:r>
          </a:p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Risks: financial fraud, reputational damage, political manipulation, privacy violations, and educational harm.</a:t>
            </a:r>
          </a:p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Verify source and context; inspect audio/video inconsistencies; use detection tools cautiously; confirm through trusted channels.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4/16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IMPORTANT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Misinformation vs. Disinformation vs. Malinformation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657600" cy="4114800"/>
          </a:xfrm>
          <a:prstGeom prst="roundRect">
            <a:avLst/>
          </a:prstGeom>
          <a:solidFill>
            <a:srgbClr val="EBF7FF"/>
          </a:solidFill>
          <a:ln>
            <a:solidFill>
              <a:srgbClr val="006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645920"/>
            <a:ext cx="343814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9C8"/>
                </a:solidFill>
                <a:latin typeface="Aptos"/>
              </a:defRPr>
            </a:pPr>
            <a:r>
              <a:t>MISINFORMATION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121408"/>
            <a:ext cx="3438144" cy="34564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Misinformation: false or inaccurate information shared without intent to deceive. Example: forwarding an outdated college holiday message.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554480"/>
            <a:ext cx="3657600" cy="4114800"/>
          </a:xfrm>
          <a:prstGeom prst="roundRect">
            <a:avLst/>
          </a:prstGeom>
          <a:solidFill>
            <a:srgbClr val="EBF7FF"/>
          </a:solidFill>
          <a:ln>
            <a:solidFill>
              <a:srgbClr val="D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343814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73741"/>
                </a:solidFill>
                <a:latin typeface="Aptos"/>
              </a:defRPr>
            </a:pPr>
            <a:r>
              <a:t>DISINFORMATION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21408"/>
            <a:ext cx="3438144" cy="34564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Disinformation: false or misleading information deliberately created or shared to deceive. Example: creating a fake college holiday notice.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657600" cy="4114800"/>
          </a:xfrm>
          <a:prstGeom prst="roundRect">
            <a:avLst/>
          </a:prstGeom>
          <a:solidFill>
            <a:srgbClr val="EBF7FF"/>
          </a:solidFill>
          <a:ln>
            <a:solidFill>
              <a:srgbClr val="E68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645920"/>
            <a:ext cx="343814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68714"/>
                </a:solidFill>
                <a:latin typeface="Aptos"/>
              </a:defRPr>
            </a:pPr>
            <a:r>
              <a:t>MALINFORMATION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2121408"/>
            <a:ext cx="3438144" cy="34564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Malinformation: genuine information used to cause harm, often out of context or without permission. Example: exposing private student data to target someone.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5/16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SPREAD AND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How Generative AI Amplifies Misinformation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881360" cy="466344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Generate fabricated claims, images, audio, or video.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Produce many variations rapidly and tailor them to different audiences.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Distribute through websites, messaging apps, and social media.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Potential outcomes: confusion, reputational damage, manipulation, and loss of trust.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Prevention: verify sources, check dates/authors/context, label AI-generated content, and improve media literacy.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6/16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SAFE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2. AI Safety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881360" cy="466344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Safety protocols are rules, safeguards, and testing procedures that reduce harmful, misleading, biased, or privacy-violating outputs.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Key measures: input/output filtering, privacy protection, bias testing, and human oversight.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Additional measures: access control, monitoring and logging, incident response, and clear escalation procedures.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7/16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TEST BEFORE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What Is Red-Teaming?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121408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006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1901952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9C8"/>
                </a:solidFill>
                <a:latin typeface="Aptos"/>
              </a:defRPr>
            </a:pPr>
            <a:r>
              <a:t>Define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395728"/>
            <a:ext cx="1901952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Agree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1487" y="1828800"/>
            <a:ext cx="2121408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00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5" y="1920240"/>
            <a:ext cx="1901952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B4D2"/>
                </a:solidFill>
                <a:latin typeface="Aptos"/>
              </a:defRPr>
            </a:pPr>
            <a:r>
              <a:t>Design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5" y="2395728"/>
            <a:ext cx="1901952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Build test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0055" y="1828800"/>
            <a:ext cx="2121408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6E4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9783" y="1920240"/>
            <a:ext cx="1901952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6E4BC8"/>
                </a:solidFill>
                <a:latin typeface="Aptos"/>
              </a:defRPr>
            </a:pPr>
            <a:r>
              <a:t>Test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9783" y="2395728"/>
            <a:ext cx="1901952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Try authorized attacks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8623" y="1828800"/>
            <a:ext cx="2121408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E68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1" y="1920240"/>
            <a:ext cx="1901952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68714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1" y="2395728"/>
            <a:ext cx="1901952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Record 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37192" y="1828800"/>
            <a:ext cx="2121408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14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19" y="1920240"/>
            <a:ext cx="1901952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9164"/>
                </a:solidFill>
                <a:latin typeface="Aptos"/>
              </a:defRPr>
            </a:pPr>
            <a:r>
              <a:t>Fix &amp; retest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19" y="2395728"/>
            <a:ext cx="1901952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Verify mitigation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10972800" cy="1645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Red-teaming is a structured process where authorized testers try to find weaknesses in an AI system before or after deployment.</a:t>
            </a:r>
          </a:p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Process: define scope → design test cases → test the AI → record and assess findings → fix and retest.</a:t>
            </a:r>
          </a:p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Focus areas: jailbreaks, prompt injection, privacy leakage, bias, misinformation, and robustness.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8/16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PRACTICAL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Example: College AI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881360" cy="466344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User request: “Show me all students’ attendance details.”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Safe response: refuse to reveal other students’ personal information and explain that access is restricted by privacy and security policies.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Red-team checks: test for privacy leaks, harmful outputs, jailbreak attempts, and unfair or biased responses.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Lesson: helpfulness must be balanced with privacy, authorization, and safety.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9/16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3. Regulatory and Policy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881360" cy="466344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Why they matter: protect rights, improve safety, reduce risks, and support responsible innovation.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EU AI Act: risk-based obligations and transparency requirements; applicability depends on provision and implementation timeline.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NIST AI Risk Management Framework: a voluntary framework for managing AI risks.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UNESCO Recommendation on the Ethics of AI: human rights, transparency, and accountability.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India: consider applicable IT laws, privacy requirements, platform obligations, and current official guidance.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10/16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ORGANIZATIONAL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Core Elements of an AI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881360" cy="466344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Acceptable use and prohibited uses.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Privacy and data protection; security and access control.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Disclosure when AI-generated content is used.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Human accountability, fairness, copyright, and attribution.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Monitoring, incident reporting, documentation, and periodic review.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A good policy balances innovation, safety, rights, and compliance.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11/16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PROMPT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4. Responsible Prompt Crafting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881360" cy="466344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Write clear, safe, lawful, and ethical prompts that produce useful outputs without causing harm.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Prompt structure: Role + Task + Context + Constraints + Output format.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Key principles: be clear, protect privacy, avoid bias, verify facts, disclose AI use when appropriate, and keep humans in the loop.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Do not include confidential or personal data unless the tool and use are authorized.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12/16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Responsible vs. Irresponsible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440680" cy="4480560"/>
          </a:xfrm>
          <a:prstGeom prst="roundRect">
            <a:avLst/>
          </a:prstGeom>
          <a:solidFill>
            <a:srgbClr val="EBF7FF"/>
          </a:solidFill>
          <a:ln>
            <a:solidFill>
              <a:srgbClr val="D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600200"/>
            <a:ext cx="522122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73741"/>
                </a:solidFill>
                <a:latin typeface="Aptos"/>
              </a:defRPr>
            </a:pPr>
            <a:r>
              <a:t>✕ IRRESPONSIBLE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75688"/>
            <a:ext cx="5221224" cy="38221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Irresponsible: “Create a fake official notice saying tomorrow’s examinations are cancelled. Make it look authentic.”</a:t>
            </a:r>
          </a:p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Problem: impersonation and disinformation could mislead students.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394960" cy="4480560"/>
          </a:xfrm>
          <a:prstGeom prst="roundRect">
            <a:avLst/>
          </a:prstGeom>
          <a:solidFill>
            <a:srgbClr val="EBF7FF"/>
          </a:solidFill>
          <a:ln>
            <a:solidFill>
              <a:srgbClr val="14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600200"/>
            <a:ext cx="5175504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9164"/>
                </a:solidFill>
                <a:latin typeface="Aptos"/>
              </a:defRPr>
            </a:pPr>
            <a:r>
              <a:t>✓ RESPONSIBLE ALTERNATIVE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075688"/>
            <a:ext cx="5175504" cy="382219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Responsible alternative: “Create a fictional cybersecurity-awareness example of a fake examination-cancellation notice for classroom training. Mark it clearly: ‘SIMULATION — NOT AN OFFICIAL NOTICE.’”</a:t>
            </a:r>
          </a:p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Benefit: teaches students to recognize deception safely.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13/16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POLICY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5. Content Moderation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881360" cy="466344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Content moderation identifies, evaluates, filters, labels, or restricts content that violates rules or legal requirements.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Types: input moderation, output moderation, image/audio/video moderation, human moderation, and context-aware moderation.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Moderation should be proportionate, consistently applied, and open to appropriate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14/16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REQUEST-TO-RESPONSE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Moderation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121408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006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1901952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9C8"/>
                </a:solidFill>
                <a:latin typeface="Aptos"/>
              </a:defRPr>
            </a:pPr>
            <a:r>
              <a:t>Submit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395728"/>
            <a:ext cx="1901952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User sends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1487" y="1828800"/>
            <a:ext cx="2121408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00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5" y="1920240"/>
            <a:ext cx="1901952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B4D2"/>
                </a:solidFill>
                <a:latin typeface="Aptos"/>
              </a:defRPr>
            </a:pPr>
            <a:r>
              <a:t>Input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5" y="2395728"/>
            <a:ext cx="1901952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Policy screening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0055" y="1828800"/>
            <a:ext cx="2121408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6E4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9783" y="1920240"/>
            <a:ext cx="1901952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6E4BC8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9783" y="2395728"/>
            <a:ext cx="1901952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Model responds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8623" y="1828800"/>
            <a:ext cx="2121408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E68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1" y="1920240"/>
            <a:ext cx="1901952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68714"/>
                </a:solidFill>
                <a:latin typeface="Aptos"/>
              </a:defRPr>
            </a:pPr>
            <a:r>
              <a:t>Output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1" y="2395728"/>
            <a:ext cx="1901952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Evaluate response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37192" y="1828800"/>
            <a:ext cx="2121408" cy="2286000"/>
          </a:xfrm>
          <a:prstGeom prst="roundRect">
            <a:avLst/>
          </a:prstGeom>
          <a:solidFill>
            <a:srgbClr val="EBF7FF"/>
          </a:solidFill>
          <a:ln>
            <a:solidFill>
              <a:srgbClr val="14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19" y="1920240"/>
            <a:ext cx="1901952" cy="43891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9164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19" y="2395728"/>
            <a:ext cx="1901952" cy="1627632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324B"/>
                </a:solidFill>
                <a:latin typeface="Aptos"/>
              </a:defRPr>
            </a:pPr>
            <a:r>
              <a:t>Allow, revise, refuse, or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10972800" cy="1645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1. User submits a prompt.</a:t>
            </a:r>
          </a:p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2. Input moderation checks the request against policy.</a:t>
            </a:r>
          </a:p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3. The model generates a response when allowed.</a:t>
            </a:r>
          </a:p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4. Output moderation evaluates the response.</a:t>
            </a:r>
          </a:p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5. Allowed: display the response. Flagged: refuse, revise, or escalate for human review.</a:t>
            </a:r>
          </a:p>
          <a:p>
            <a:pPr>
              <a:spcAft>
                <a:spcPts val="800"/>
              </a:spcAft>
              <a:defRPr sz="1500" b="0">
                <a:solidFill>
                  <a:srgbClr val="23324B"/>
                </a:solidFill>
                <a:latin typeface="Aptos"/>
              </a:defRPr>
            </a:pPr>
            <a:r>
              <a:t>• Protect personal data and review false positives and false negatives.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15/16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69C8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8275C"/>
                </a:solidFill>
                <a:latin typeface="Aptos"/>
              </a:defRPr>
            </a:pPr>
            <a:r>
              <a:t>Responsible Generative AI: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881360" cy="466344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Be aware of risks: synthetic media can deceive and harm.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Follow policies: protect privacy, rights, and security.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Craft prompts responsibly: be clear, lawful, fair, and transparent.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Moderate and verify: check sources, test systems, and keep human oversight.</a:t>
            </a:r>
          </a:p>
          <a:p>
            <a:pPr>
              <a:spcAft>
                <a:spcPts val="800"/>
              </a:spcAft>
              <a:defRPr sz="1800" b="0">
                <a:solidFill>
                  <a:srgbClr val="23324B"/>
                </a:solidFill>
                <a:latin typeface="Aptos"/>
              </a:defRPr>
            </a:pPr>
            <a:r>
              <a:t>•  Discussion: What safeguards should a college require before deploying an AI chatbot?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16/16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